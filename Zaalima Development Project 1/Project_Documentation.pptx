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4"/>
  </p:sldMasterIdLst>
  <p:notesMasterIdLst>
    <p:notesMasterId r:id="rId15"/>
  </p:notesMasterIdLst>
  <p:sldIdLst>
    <p:sldId id="303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B6D9F-325F-4DF3-ACA1-830940AB8ABA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FCEB6-76C1-4901-8538-082959140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70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FCEB6-76C1-4901-8538-082959140F4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23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4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39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5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27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1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70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64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23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48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702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7645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30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179072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60501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45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72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74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6C465B-83D8-C5C3-0A23-32EE44868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631450"/>
            <a:ext cx="7766936" cy="1646302"/>
          </a:xfrm>
        </p:spPr>
        <p:txBody>
          <a:bodyPr/>
          <a:lstStyle/>
          <a:p>
            <a:r>
              <a:rPr lang="en-US" dirty="0"/>
              <a:t>AEGIS: REAL-TIME FRAUD DETECTION SYSTEM PROJECT</a:t>
            </a:r>
            <a:br>
              <a:rPr lang="en-US" dirty="0"/>
            </a:b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74DB57A-3D5B-BB81-56C3-6774E2722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056" y="5185152"/>
            <a:ext cx="8676244" cy="1096899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JAYAKRISHNAN G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0521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295F-E638-4F61-AFE2-CF3E4055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7188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US" sz="4000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3" descr="SmartArt timeline">
            <a:extLst>
              <a:ext uri="{FF2B5EF4-FFF2-40B4-BE49-F238E27FC236}">
                <a16:creationId xmlns:a16="http://schemas.microsoft.com/office/drawing/2014/main" id="{26BCD302-63E5-7380-CD49-881F0ADF1035}"/>
              </a:ext>
            </a:extLst>
          </p:cNvPr>
          <p:cNvGrpSpPr/>
          <p:nvPr/>
        </p:nvGrpSpPr>
        <p:grpSpPr>
          <a:xfrm>
            <a:off x="-608268" y="-3500910"/>
            <a:ext cx="11466432" cy="15190929"/>
            <a:chOff x="-608268" y="-3500910"/>
            <a:chExt cx="11466432" cy="15190929"/>
          </a:xfrm>
          <a:scene3d>
            <a:camera prst="perspectiveRelaxedModerately" zoom="92000"/>
            <a:lightRig rig="balanced" dir="t">
              <a:rot lat="0" lon="0" rev="12700000"/>
            </a:lightRig>
          </a:scene3d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F63736-A82B-9ECC-3DCF-254FECD7B3A2}"/>
                </a:ext>
              </a:extLst>
            </p:cNvPr>
            <p:cNvSpPr/>
            <p:nvPr/>
          </p:nvSpPr>
          <p:spPr>
            <a:xfrm>
              <a:off x="92598" y="1403055"/>
              <a:ext cx="3604456" cy="3929736"/>
            </a:xfrm>
            <a:custGeom>
              <a:avLst/>
              <a:gdLst>
                <a:gd name="connsiteX0" fmla="*/ 0 w 3604456"/>
                <a:gd name="connsiteY0" fmla="*/ 0 h 3929736"/>
                <a:gd name="connsiteX1" fmla="*/ 2162674 w 3604456"/>
                <a:gd name="connsiteY1" fmla="*/ 0 h 3929736"/>
                <a:gd name="connsiteX2" fmla="*/ 3604456 w 3604456"/>
                <a:gd name="connsiteY2" fmla="*/ 1964868 h 3929736"/>
                <a:gd name="connsiteX3" fmla="*/ 2162674 w 3604456"/>
                <a:gd name="connsiteY3" fmla="*/ 3929736 h 3929736"/>
                <a:gd name="connsiteX4" fmla="*/ 0 w 3604456"/>
                <a:gd name="connsiteY4" fmla="*/ 3929736 h 3929736"/>
                <a:gd name="connsiteX5" fmla="*/ 0 w 3604456"/>
                <a:gd name="connsiteY5" fmla="*/ 0 h 3929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4456" h="3929736">
                  <a:moveTo>
                    <a:pt x="0" y="0"/>
                  </a:moveTo>
                  <a:lnTo>
                    <a:pt x="2162674" y="0"/>
                  </a:lnTo>
                  <a:lnTo>
                    <a:pt x="3604456" y="1964868"/>
                  </a:lnTo>
                  <a:lnTo>
                    <a:pt x="2162674" y="3929736"/>
                  </a:lnTo>
                  <a:lnTo>
                    <a:pt x="0" y="3929736"/>
                  </a:lnTo>
                  <a:lnTo>
                    <a:pt x="0" y="0"/>
                  </a:lnTo>
                  <a:close/>
                </a:path>
              </a:pathLst>
            </a:custGeom>
            <a:sp3d prstMaterial="plastic">
              <a:bevelT w="50800" h="50800"/>
              <a:bevelB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400" tIns="152400" rIns="873291" bIns="152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Financial fraud is one of the biggest challenges faced by banks and digital payment platforms. Traditional fraud detection systems rely on batch processing, which detects fraud </a:t>
              </a:r>
              <a:r>
                <a:rPr lang="en-US" sz="2000" i="1" kern="1200" dirty="0"/>
                <a:t>after</a:t>
              </a:r>
              <a:r>
                <a:rPr lang="en-US" sz="2000" kern="1200" dirty="0"/>
                <a:t> it happens.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79DBF7-ED02-1D01-98E5-037413F72D93}"/>
                </a:ext>
              </a:extLst>
            </p:cNvPr>
            <p:cNvSpPr/>
            <p:nvPr/>
          </p:nvSpPr>
          <p:spPr>
            <a:xfrm>
              <a:off x="-608268" y="-3500910"/>
              <a:ext cx="5006189" cy="1047929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just"/>
              <a:endParaRPr lang="en-IN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E1E55DD-8C8C-EDCA-B68F-D7434FFA1601}"/>
                </a:ext>
              </a:extLst>
            </p:cNvPr>
            <p:cNvSpPr/>
            <p:nvPr/>
          </p:nvSpPr>
          <p:spPr>
            <a:xfrm rot="1502412">
              <a:off x="3550933" y="4025940"/>
              <a:ext cx="3109328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3109328" y="0"/>
                  </a:lnTo>
                </a:path>
              </a:pathLst>
            </a:custGeom>
            <a:noFill/>
            <a:sp3d z="50080" prstMaterial="plastic">
              <a:bevelT w="25400" h="25400"/>
              <a:bevelB w="25400" h="254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507D9F4E-B0F4-ACC3-EDB5-AABFC2516D56}"/>
                </a:ext>
              </a:extLst>
            </p:cNvPr>
            <p:cNvSpPr/>
            <p:nvPr/>
          </p:nvSpPr>
          <p:spPr>
            <a:xfrm>
              <a:off x="1894826" y="1203444"/>
              <a:ext cx="0" cy="3274780"/>
            </a:xfrm>
            <a:prstGeom prst="line">
              <a:avLst/>
            </a:prstGeom>
            <a:noFill/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dash"/>
            </a:ln>
            <a:effectLst/>
            <a:sp3d z="-25400" prstMaterial="plastic"/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53AA25-0DB5-D1AA-E895-3AA0D93D2E55}"/>
                </a:ext>
              </a:extLst>
            </p:cNvPr>
            <p:cNvSpPr/>
            <p:nvPr/>
          </p:nvSpPr>
          <p:spPr>
            <a:xfrm>
              <a:off x="1824142" y="2225852"/>
              <a:ext cx="141368" cy="654956"/>
            </a:xfrm>
            <a:prstGeom prst="rect">
              <a:avLst/>
            </a:prstGeom>
            <a:sp3d prstMaterial="plastic">
              <a:bevelT w="50800" h="50800"/>
              <a:bevelB w="50800" h="508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AEF5A0E-4133-A3A0-4AE8-CA2AAED366A9}"/>
                </a:ext>
              </a:extLst>
            </p:cNvPr>
            <p:cNvSpPr/>
            <p:nvPr/>
          </p:nvSpPr>
          <p:spPr>
            <a:xfrm rot="21600000">
              <a:off x="6514140" y="2667629"/>
              <a:ext cx="3636857" cy="4032657"/>
            </a:xfrm>
            <a:custGeom>
              <a:avLst/>
              <a:gdLst>
                <a:gd name="connsiteX0" fmla="*/ 0 w 3636857"/>
                <a:gd name="connsiteY0" fmla="*/ 0 h 4032657"/>
                <a:gd name="connsiteX1" fmla="*/ 2182114 w 3636857"/>
                <a:gd name="connsiteY1" fmla="*/ 0 h 4032657"/>
                <a:gd name="connsiteX2" fmla="*/ 3636857 w 3636857"/>
                <a:gd name="connsiteY2" fmla="*/ 2016329 h 4032657"/>
                <a:gd name="connsiteX3" fmla="*/ 2182114 w 3636857"/>
                <a:gd name="connsiteY3" fmla="*/ 4032657 h 4032657"/>
                <a:gd name="connsiteX4" fmla="*/ 0 w 3636857"/>
                <a:gd name="connsiteY4" fmla="*/ 4032657 h 4032657"/>
                <a:gd name="connsiteX5" fmla="*/ 0 w 3636857"/>
                <a:gd name="connsiteY5" fmla="*/ 0 h 403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36857" h="4032657">
                  <a:moveTo>
                    <a:pt x="3636857" y="4032657"/>
                  </a:moveTo>
                  <a:lnTo>
                    <a:pt x="1454743" y="4032657"/>
                  </a:lnTo>
                  <a:lnTo>
                    <a:pt x="0" y="2016328"/>
                  </a:lnTo>
                  <a:lnTo>
                    <a:pt x="1454743" y="0"/>
                  </a:lnTo>
                  <a:lnTo>
                    <a:pt x="3636857" y="0"/>
                  </a:lnTo>
                  <a:lnTo>
                    <a:pt x="3636857" y="4032657"/>
                  </a:lnTo>
                  <a:close/>
                </a:path>
              </a:pathLst>
            </a:custGeom>
            <a:sp3d prstMaterial="plastic">
              <a:bevelT w="50800" h="50800"/>
              <a:bevelB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79771" tIns="152400" rIns="152400" bIns="152399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Aegis</a:t>
              </a:r>
              <a:r>
                <a:rPr lang="en-US" sz="2000" kern="1200" dirty="0"/>
                <a:t> is designed to detect suspicious credit card transactions </a:t>
              </a:r>
              <a:r>
                <a:rPr lang="en-US" sz="2000" b="1" kern="1200" dirty="0"/>
                <a:t>instantly</a:t>
              </a:r>
              <a:r>
                <a:rPr lang="en-US" sz="2000" kern="1200" dirty="0"/>
                <a:t>, using machine learning models and real-time data streaming.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F26616-0256-3F03-5005-A9AA40B5A271}"/>
                </a:ext>
              </a:extLst>
            </p:cNvPr>
            <p:cNvSpPr/>
            <p:nvPr/>
          </p:nvSpPr>
          <p:spPr>
            <a:xfrm>
              <a:off x="5806974" y="936267"/>
              <a:ext cx="5051190" cy="1075375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numCol="2"/>
            <a:lstStyle/>
            <a:p>
              <a:endParaRPr lang="en-IN"/>
            </a:p>
          </p:txBody>
        </p:sp>
        <p:sp>
          <p:nvSpPr>
            <p:cNvPr id="12" name="Straight Connector 11">
              <a:extLst>
                <a:ext uri="{FF2B5EF4-FFF2-40B4-BE49-F238E27FC236}">
                  <a16:creationId xmlns:a16="http://schemas.microsoft.com/office/drawing/2014/main" id="{B6AD6D1B-F3AA-CFBB-8530-934D73B78B7C}"/>
                </a:ext>
              </a:extLst>
            </p:cNvPr>
            <p:cNvSpPr/>
            <p:nvPr/>
          </p:nvSpPr>
          <p:spPr>
            <a:xfrm>
              <a:off x="8332569" y="3530773"/>
              <a:ext cx="0" cy="3360547"/>
            </a:xfrm>
            <a:prstGeom prst="line">
              <a:avLst/>
            </a:prstGeom>
            <a:noFill/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dash"/>
            </a:ln>
            <a:effectLst/>
            <a:sp3d z="-25400" prstMaterial="plastic"/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DB35DD-EC77-02DF-736F-94D04AFE70C9}"/>
                </a:ext>
              </a:extLst>
            </p:cNvPr>
            <p:cNvSpPr/>
            <p:nvPr/>
          </p:nvSpPr>
          <p:spPr>
            <a:xfrm>
              <a:off x="8261249" y="5162495"/>
              <a:ext cx="142638" cy="672109"/>
            </a:xfrm>
            <a:prstGeom prst="rect">
              <a:avLst/>
            </a:prstGeom>
            <a:sp3d prstMaterial="plastic">
              <a:bevelT w="50800" h="50800"/>
              <a:bevelB w="50800" h="508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04954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789A-0543-6897-63F7-96CD2788A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690906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88944-CA8E-F033-9CE0-42D1D53C8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09775"/>
            <a:ext cx="10058400" cy="4362449"/>
          </a:xfrm>
        </p:spPr>
        <p:txBody>
          <a:bodyPr/>
          <a:lstStyle/>
          <a:p>
            <a:r>
              <a:rPr lang="en-IN" sz="2400" dirty="0"/>
              <a:t>Credit card fraud needs instant detection. Traditional systems detect </a:t>
            </a:r>
            <a:r>
              <a:rPr lang="en-IN" sz="2800" dirty="0"/>
              <a:t>fraud</a:t>
            </a:r>
            <a:r>
              <a:rPr lang="en-IN" sz="2400" dirty="0"/>
              <a:t> with delays, causing financial losses.</a:t>
            </a:r>
          </a:p>
          <a:p>
            <a:pPr marL="0" indent="0">
              <a:buNone/>
            </a:pPr>
            <a:r>
              <a:rPr lang="en-IN" sz="2400" dirty="0"/>
              <a:t>This system aims to:</a:t>
            </a:r>
          </a:p>
          <a:p>
            <a:r>
              <a:rPr lang="en-IN" sz="2400" dirty="0"/>
              <a:t> Detect fraudulent transactions </a:t>
            </a:r>
            <a:r>
              <a:rPr lang="en-IN" sz="2400" b="1" dirty="0"/>
              <a:t>in real-time</a:t>
            </a:r>
          </a:p>
          <a:p>
            <a:r>
              <a:rPr lang="en-IN" sz="2400" dirty="0"/>
              <a:t>Block suspicious transactions </a:t>
            </a:r>
            <a:r>
              <a:rPr lang="en-IN" sz="2400" b="1" dirty="0"/>
              <a:t>Automatically</a:t>
            </a:r>
          </a:p>
          <a:p>
            <a:r>
              <a:rPr lang="en-IN" sz="2400" b="1" dirty="0"/>
              <a:t>Alert</a:t>
            </a:r>
            <a:r>
              <a:rPr lang="en-IN" sz="2400" dirty="0"/>
              <a:t> the user instantly</a:t>
            </a:r>
          </a:p>
          <a:p>
            <a:r>
              <a:rPr lang="en-IN" sz="2400" dirty="0"/>
              <a:t> Reduce </a:t>
            </a:r>
            <a:r>
              <a:rPr lang="en-IN" sz="2400" b="1" dirty="0"/>
              <a:t>financial risk </a:t>
            </a:r>
            <a:r>
              <a:rPr lang="en-IN" sz="2400" dirty="0"/>
              <a:t>for banks and customers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9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EAB7-A350-43FC-AA89-48371091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E7711-03CC-B1B5-4E5C-9BD584141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Process </a:t>
            </a:r>
            <a:r>
              <a:rPr lang="en-US" sz="2800" b="1" dirty="0"/>
              <a:t>live</a:t>
            </a:r>
            <a:r>
              <a:rPr lang="en-US" sz="2800" dirty="0"/>
              <a:t> transactions</a:t>
            </a:r>
          </a:p>
          <a:p>
            <a:r>
              <a:rPr lang="en-US" sz="2800" dirty="0"/>
              <a:t>Detect anomalies using </a:t>
            </a:r>
            <a:r>
              <a:rPr lang="en-US" sz="2800" b="1" dirty="0"/>
              <a:t>ML</a:t>
            </a:r>
          </a:p>
          <a:p>
            <a:r>
              <a:rPr lang="en-US" sz="2800" dirty="0"/>
              <a:t>Trigger </a:t>
            </a:r>
            <a:r>
              <a:rPr lang="en-US" sz="2800" b="1" dirty="0"/>
              <a:t>alerts </a:t>
            </a:r>
            <a:r>
              <a:rPr lang="en-US" sz="2800" dirty="0"/>
              <a:t>for fraud</a:t>
            </a:r>
          </a:p>
          <a:p>
            <a:r>
              <a:rPr lang="en-US" sz="2800" dirty="0"/>
              <a:t>Provide a </a:t>
            </a:r>
            <a:r>
              <a:rPr lang="en-US" sz="2800" b="1" dirty="0"/>
              <a:t>real-time</a:t>
            </a:r>
            <a:r>
              <a:rPr lang="en-US" sz="2800" dirty="0"/>
              <a:t> monitoring dashboard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17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0BCE8-0858-ADE6-71FD-52977305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  <a:r>
              <a:rPr lang="en-I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40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9F69CC-1015-861D-9144-A5ECD37CCA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348694"/>
              </p:ext>
            </p:extLst>
          </p:nvPr>
        </p:nvGraphicFramePr>
        <p:xfrm>
          <a:off x="1388961" y="3293353"/>
          <a:ext cx="8275900" cy="182880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4137950">
                  <a:extLst>
                    <a:ext uri="{9D8B030D-6E8A-4147-A177-3AD203B41FA5}">
                      <a16:colId xmlns:a16="http://schemas.microsoft.com/office/drawing/2014/main" val="1680420413"/>
                    </a:ext>
                  </a:extLst>
                </a:gridCol>
                <a:gridCol w="4137950">
                  <a:extLst>
                    <a:ext uri="{9D8B030D-6E8A-4147-A177-3AD203B41FA5}">
                      <a16:colId xmlns:a16="http://schemas.microsoft.com/office/drawing/2014/main" val="3401388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882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V1–V28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PCA-transformed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28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Transaction 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650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Seconds since first transaction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562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= Fraud, 0 = 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34048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0877B8E-1202-404E-A274-83E26C70E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825" y="1731229"/>
            <a:ext cx="5121915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Name: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creditcard.csv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284,807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E7EEB-7897-3D24-ADCC-A957A2B350F6}"/>
              </a:ext>
            </a:extLst>
          </p:cNvPr>
          <p:cNvSpPr txBox="1"/>
          <p:nvPr/>
        </p:nvSpPr>
        <p:spPr>
          <a:xfrm>
            <a:off x="1171576" y="5286375"/>
            <a:ext cx="96488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 distribution is highly imbalanced (fraud = 492 cases).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0546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21C8-FCB4-ABD1-367D-ACA6A38B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5" y="652119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TECHNOLOGIES</a:t>
            </a:r>
            <a:r>
              <a:rPr lang="en-IN" sz="4000" b="1" dirty="0"/>
              <a:t> 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2546D5-3D17-FAF4-A634-9268BB4FEE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04444" y="2346408"/>
            <a:ext cx="602004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(Isolation Forest)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Matplotlib/Seaborn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33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5112-7B16-E1F0-B3D7-98EA1D01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33B4E5-CAD7-327E-6AEB-FE381C03EF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827330"/>
            <a:ext cx="864371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Feature Engineering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Convert raw transactions into model-ready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Isolation Forest anomaly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Scoring API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FastAPI scores every incoming transaction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Module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Sends SMS / email alerts on fraud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Dashboard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Real-time graphs and fraud statistics</a:t>
            </a:r>
          </a:p>
        </p:txBody>
      </p:sp>
    </p:spTree>
    <p:extLst>
      <p:ext uri="{BB962C8B-B14F-4D97-AF65-F5344CB8AC3E}">
        <p14:creationId xmlns:p14="http://schemas.microsoft.com/office/powerpoint/2010/main" val="193566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4436-1FFD-6F7A-C1B5-B078FF60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362BF-AF14-40F9-9FE9-2240ACA9F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Model successfully detects fraud cases using anomaly detection</a:t>
            </a:r>
          </a:p>
          <a:p>
            <a:r>
              <a:rPr lang="en-US" sz="2800" dirty="0"/>
              <a:t>Real-time simulation generates instant fraud alerts</a:t>
            </a:r>
          </a:p>
          <a:p>
            <a:r>
              <a:rPr lang="en-US" sz="2800" dirty="0"/>
              <a:t>Fraud cases (Class = 1) are flagged with high accuracy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1861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AD883-5486-789D-F12A-24723923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76B8A-AF56-A42E-C499-AE98DD563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Aegis provides a powerful real-time fraud detection system that: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Reduces financial losses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Detects fraud instantly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Works efficiently on large datasets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Can be integrated into banking systems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65532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CA5237-F08E-AB5B-2107-DB84EF27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7"/>
            <a:ext cx="9428690" cy="1897063"/>
          </a:xfrm>
        </p:spPr>
        <p:txBody>
          <a:bodyPr>
            <a:normAutofit/>
          </a:bodyPr>
          <a:lstStyle/>
          <a:p>
            <a:pPr algn="ctr"/>
            <a:r>
              <a:rPr lang="en-US" sz="10000" b="1" dirty="0"/>
              <a:t>THANK YOU</a:t>
            </a:r>
            <a:endParaRPr lang="en-IN" sz="10000" b="1" dirty="0"/>
          </a:p>
        </p:txBody>
      </p:sp>
    </p:spTree>
    <p:extLst>
      <p:ext uri="{BB962C8B-B14F-4D97-AF65-F5344CB8AC3E}">
        <p14:creationId xmlns:p14="http://schemas.microsoft.com/office/powerpoint/2010/main" val="543462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5FBC4-9D33-46BE-911D-419763BA9AF9}">
  <ds:schemaRefs>
    <ds:schemaRef ds:uri="71af3243-3dd4-4a8d-8c0d-dd76da1f02a5"/>
    <ds:schemaRef ds:uri="http://www.w3.org/XML/1998/namespace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</TotalTime>
  <Words>309</Words>
  <Application>Microsoft Office PowerPoint</Application>
  <PresentationFormat>Widescreen</PresentationFormat>
  <Paragraphs>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AEGIS: REAL-TIME FRAUD DETECTION SYSTEM PROJECT </vt:lpstr>
      <vt:lpstr>INTRODUCTION</vt:lpstr>
      <vt:lpstr>PROBLEM STATEMENT</vt:lpstr>
      <vt:lpstr>OBJECTIVE</vt:lpstr>
      <vt:lpstr>DATASET DESCRIPTION</vt:lpstr>
      <vt:lpstr>TECHNOLOGIES USED</vt:lpstr>
      <vt:lpstr>SYSTEM ARCHITECTURE</vt:lpstr>
      <vt:lpstr>RESULTS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jayakrishnan g</dc:creator>
  <cp:lastModifiedBy>jayakrishnan g</cp:lastModifiedBy>
  <cp:revision>6</cp:revision>
  <dcterms:created xsi:type="dcterms:W3CDTF">2025-12-04T13:31:46Z</dcterms:created>
  <dcterms:modified xsi:type="dcterms:W3CDTF">2025-12-12T14:11:26Z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